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Roboto Condensed" charset="1" panose="02000000000000000000"/>
      <p:regular r:id="rId20"/>
    </p:embeddedFont>
    <p:embeddedFont>
      <p:font typeface="Roboto Condensed Italics" charset="1" panose="02000000000000000000"/>
      <p:regular r:id="rId21"/>
    </p:embeddedFont>
    <p:embeddedFont>
      <p:font typeface="Roboto Condensed Bold" charset="1" panose="02000000000000000000"/>
      <p:regular r:id="rId23"/>
    </p:embeddedFont>
    <p:embeddedFont>
      <p:font typeface="Arimo" charset="1" panose="020B0604020202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273073"/>
            <a:ext cx="9445523" cy="4487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SMART FARM: AI-DRIVEN CROP STRESS PREDICTION &amp; AUTOMATED IRRIGATION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090047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Final Year Project — 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862610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Developed by: Archana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7635183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Domain: AI + IoT + Precision Agriculture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8407746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i="true">
                <a:solidFill>
                  <a:srgbClr val="55575A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A predictive, automated, low-cost smart farming solution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33525"/>
            <a:ext cx="7725070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PROBLEM &amp; MOTIVATION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752134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Modern agriculture faces major limitations: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524698"/>
            <a:ext cx="16303523" cy="441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Water wastage: </a:t>
            </a:r>
            <a:r>
              <a:rPr lang="en-US" b="true" sz="2187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30–40%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Yield loss due to delayed stress detection: </a:t>
            </a:r>
            <a:r>
              <a:rPr lang="en-US" b="true" sz="2187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up to 25%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Labor cost: </a:t>
            </a:r>
            <a:r>
              <a:rPr lang="en-US" b="true" sz="2187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15–20% of expenses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Existing smart systems are: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Expensive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Complex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Not predictive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Hard to install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8166497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Need:</a:t>
            </a: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Affordable intelligent automation system.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809902"/>
            <a:ext cx="6284566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PROJECT OBJECTIVE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028502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system aims to build a </a:t>
            </a:r>
            <a:r>
              <a:rPr lang="en-US" sz="2187" b="true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complete smart farming platform</a:t>
            </a: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that: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801066"/>
            <a:ext cx="16303523" cy="3865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Predicts crop stress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Predicts soil moisture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Estimates water &amp; power usage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Predicts yield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Automates irrigation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Enables remote monitoring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Works for multiple crops &amp; growth stages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7890119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Goal:</a:t>
            </a: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Convert traditional farming → data-driven farming.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94772"/>
            <a:ext cx="7507929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SYSTEM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213372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Three-Tier Architecture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081185"/>
            <a:ext cx="5434460" cy="1134066"/>
            <a:chOff x="0" y="0"/>
            <a:chExt cx="7245947" cy="151208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7245985" cy="1512062"/>
            </a:xfrm>
            <a:custGeom>
              <a:avLst/>
              <a:gdLst/>
              <a:ahLst/>
              <a:cxnLst/>
              <a:rect r="r" b="b" t="t" l="l"/>
              <a:pathLst>
                <a:path h="1512062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5" t="0" r="-65" b="-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75759" y="4460672"/>
            <a:ext cx="4266457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PRESENTATION LAYER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5759" y="5016551"/>
            <a:ext cx="4867427" cy="110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Responsive dashboard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Mobile QR access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426698" y="3081185"/>
            <a:ext cx="5434460" cy="1134066"/>
            <a:chOff x="0" y="0"/>
            <a:chExt cx="7245947" cy="1512087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7245985" cy="1512062"/>
            </a:xfrm>
            <a:custGeom>
              <a:avLst/>
              <a:gdLst/>
              <a:ahLst/>
              <a:cxnLst/>
              <a:rect r="r" b="b" t="t" l="l"/>
              <a:pathLst>
                <a:path h="1512062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5" t="0" r="-65" b="-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710210" y="4460672"/>
            <a:ext cx="4029970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APPLICATION LAYER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10210" y="5016551"/>
            <a:ext cx="4867427" cy="110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Flask REST API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ML prediction engine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861159" y="3081185"/>
            <a:ext cx="5434460" cy="1134066"/>
            <a:chOff x="0" y="0"/>
            <a:chExt cx="7245947" cy="1512087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7245985" cy="1512062"/>
            </a:xfrm>
            <a:custGeom>
              <a:avLst/>
              <a:gdLst/>
              <a:ahLst/>
              <a:cxnLst/>
              <a:rect r="r" b="b" t="t" l="l"/>
              <a:pathLst>
                <a:path h="1512062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5" t="0" r="-65" b="-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144670" y="446067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HARDWARE LAYER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44670" y="5016551"/>
            <a:ext cx="4867427" cy="110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ESP32 controller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Relay actuators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2238" y="6788791"/>
            <a:ext cx="4847482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ARCHITECTURE BENEFIT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238" y="7599759"/>
            <a:ext cx="16303523" cy="165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Real-time decision making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Automated control loop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Scalable deployment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220963"/>
            <a:ext cx="9657455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HARDWARE + SOFTWARE STACK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638398"/>
            <a:ext cx="4252912" cy="56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HARDWARE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396378"/>
            <a:ext cx="7805890" cy="2759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ESP32 dual-core 240 MHz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Relay module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Water pump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LED grow lights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Power supply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9397" y="3638398"/>
            <a:ext cx="4252912" cy="56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SOFTWARE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9397" y="4396378"/>
            <a:ext cx="7805890" cy="2759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Python backend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Flask API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SQLite database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Scikit-learn ML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HTML/CSS/JS frontend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7479059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Design Principle:</a:t>
            </a: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Low cost + High performance + Easy installation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60374"/>
            <a:ext cx="9003954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MACHINE LEARNING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078984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Five predictive models used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6" y="2942034"/>
            <a:ext cx="16313048" cy="4905966"/>
            <a:chOff x="0" y="0"/>
            <a:chExt cx="21750731" cy="65412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50655" cy="6541389"/>
            </a:xfrm>
            <a:custGeom>
              <a:avLst/>
              <a:gdLst/>
              <a:ahLst/>
              <a:cxnLst/>
              <a:rect r="r" b="b" t="t" l="l"/>
              <a:pathLst>
                <a:path h="6541389" w="21750655">
                  <a:moveTo>
                    <a:pt x="0" y="63119"/>
                  </a:moveTo>
                  <a:cubicBezTo>
                    <a:pt x="0" y="28194"/>
                    <a:pt x="28321" y="0"/>
                    <a:pt x="63119" y="0"/>
                  </a:cubicBezTo>
                  <a:lnTo>
                    <a:pt x="21687537" y="0"/>
                  </a:lnTo>
                  <a:lnTo>
                    <a:pt x="21687537" y="6350"/>
                  </a:lnTo>
                  <a:lnTo>
                    <a:pt x="21687537" y="0"/>
                  </a:lnTo>
                  <a:cubicBezTo>
                    <a:pt x="21722462" y="0"/>
                    <a:pt x="21750655" y="28194"/>
                    <a:pt x="21750655" y="63119"/>
                  </a:cubicBezTo>
                  <a:lnTo>
                    <a:pt x="21744305" y="63119"/>
                  </a:lnTo>
                  <a:lnTo>
                    <a:pt x="21750655" y="63119"/>
                  </a:lnTo>
                  <a:lnTo>
                    <a:pt x="21750655" y="6478270"/>
                  </a:lnTo>
                  <a:lnTo>
                    <a:pt x="21744305" y="6478270"/>
                  </a:lnTo>
                  <a:lnTo>
                    <a:pt x="21750655" y="6478270"/>
                  </a:lnTo>
                  <a:cubicBezTo>
                    <a:pt x="21750655" y="6513068"/>
                    <a:pt x="21722335" y="6541389"/>
                    <a:pt x="21687537" y="6541389"/>
                  </a:cubicBezTo>
                  <a:lnTo>
                    <a:pt x="21687537" y="6535039"/>
                  </a:lnTo>
                  <a:lnTo>
                    <a:pt x="21687537" y="6541389"/>
                  </a:lnTo>
                  <a:lnTo>
                    <a:pt x="63119" y="6541389"/>
                  </a:lnTo>
                  <a:lnTo>
                    <a:pt x="63119" y="6535039"/>
                  </a:lnTo>
                  <a:lnTo>
                    <a:pt x="63119" y="6541389"/>
                  </a:lnTo>
                  <a:cubicBezTo>
                    <a:pt x="28194" y="6541389"/>
                    <a:pt x="0" y="6513195"/>
                    <a:pt x="0" y="6478270"/>
                  </a:cubicBezTo>
                  <a:lnTo>
                    <a:pt x="0" y="63119"/>
                  </a:lnTo>
                  <a:lnTo>
                    <a:pt x="6350" y="63119"/>
                  </a:lnTo>
                  <a:lnTo>
                    <a:pt x="0" y="63119"/>
                  </a:lnTo>
                  <a:moveTo>
                    <a:pt x="12700" y="63119"/>
                  </a:moveTo>
                  <a:lnTo>
                    <a:pt x="12700" y="6478270"/>
                  </a:lnTo>
                  <a:lnTo>
                    <a:pt x="6350" y="6478270"/>
                  </a:lnTo>
                  <a:lnTo>
                    <a:pt x="12700" y="6478270"/>
                  </a:lnTo>
                  <a:cubicBezTo>
                    <a:pt x="12700" y="6506083"/>
                    <a:pt x="35306" y="6528689"/>
                    <a:pt x="63119" y="6528689"/>
                  </a:cubicBezTo>
                  <a:lnTo>
                    <a:pt x="21687537" y="6528689"/>
                  </a:lnTo>
                  <a:cubicBezTo>
                    <a:pt x="21715476" y="6528689"/>
                    <a:pt x="21737955" y="6506083"/>
                    <a:pt x="21737955" y="6478270"/>
                  </a:cubicBezTo>
                  <a:lnTo>
                    <a:pt x="21737955" y="63119"/>
                  </a:lnTo>
                  <a:cubicBezTo>
                    <a:pt x="21737955" y="35306"/>
                    <a:pt x="21715350" y="12700"/>
                    <a:pt x="21687537" y="12700"/>
                  </a:cubicBezTo>
                  <a:lnTo>
                    <a:pt x="63119" y="12700"/>
                  </a:lnTo>
                  <a:lnTo>
                    <a:pt x="63119" y="6350"/>
                  </a:lnTo>
                  <a:lnTo>
                    <a:pt x="63119" y="12700"/>
                  </a:lnTo>
                  <a:cubicBezTo>
                    <a:pt x="35306" y="12700"/>
                    <a:pt x="12700" y="35306"/>
                    <a:pt x="12700" y="63119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01763" y="2956322"/>
            <a:ext cx="16284473" cy="812902"/>
            <a:chOff x="0" y="0"/>
            <a:chExt cx="21712631" cy="10838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85284" y="3040704"/>
            <a:ext cx="7570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Prediction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32284" y="3040704"/>
            <a:ext cx="7570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Algorithm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01763" y="3769223"/>
            <a:ext cx="16284473" cy="812902"/>
            <a:chOff x="0" y="0"/>
            <a:chExt cx="21712631" cy="10838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85284" y="3853605"/>
            <a:ext cx="7570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Soil moisture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32284" y="3853605"/>
            <a:ext cx="7570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Random Forest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01763" y="4582116"/>
            <a:ext cx="16284473" cy="812902"/>
            <a:chOff x="0" y="0"/>
            <a:chExt cx="21712631" cy="10838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85284" y="4666507"/>
            <a:ext cx="7570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Crop stress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32284" y="4666507"/>
            <a:ext cx="7570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Gradient Boosting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01763" y="5395017"/>
            <a:ext cx="16284473" cy="812902"/>
            <a:chOff x="0" y="0"/>
            <a:chExt cx="21712631" cy="108386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85284" y="5479409"/>
            <a:ext cx="7570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Water usage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32284" y="5479409"/>
            <a:ext cx="7570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Random Forest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01763" y="6207919"/>
            <a:ext cx="16284473" cy="812902"/>
            <a:chOff x="0" y="0"/>
            <a:chExt cx="21712631" cy="108386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85284" y="6292301"/>
            <a:ext cx="7570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Power usage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32284" y="6292301"/>
            <a:ext cx="7570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Linear Regression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01763" y="7020820"/>
            <a:ext cx="16284473" cy="812902"/>
            <a:chOff x="0" y="0"/>
            <a:chExt cx="21712631" cy="10838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85284" y="7105202"/>
            <a:ext cx="7570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Yield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32284" y="7105202"/>
            <a:ext cx="7570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Gradient Boosting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2238" y="8066932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Accuracy:</a:t>
            </a: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R² = </a:t>
            </a:r>
            <a:r>
              <a:rPr lang="en-US" sz="2187" b="true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0.83 – 0.92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2238" y="8839495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Models use </a:t>
            </a:r>
            <a:r>
              <a:rPr lang="en-US" sz="2187" b="true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15 feature inputs</a:t>
            </a: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including weather, time, crop type, history.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6017" y="758723"/>
            <a:ext cx="6032744" cy="735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75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WORKING PROCESS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6017" y="1956940"/>
            <a:ext cx="16335966" cy="52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System operates in automated loop: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6017" y="2698404"/>
            <a:ext cx="278759" cy="443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76017" y="3229423"/>
            <a:ext cx="8030766" cy="38100"/>
            <a:chOff x="0" y="0"/>
            <a:chExt cx="10707688" cy="50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07624" cy="50800"/>
            </a:xfrm>
            <a:custGeom>
              <a:avLst/>
              <a:gdLst/>
              <a:ahLst/>
              <a:cxnLst/>
              <a:rect r="r" b="b" t="t" l="l"/>
              <a:pathLst>
                <a:path h="50800" w="10707624">
                  <a:moveTo>
                    <a:pt x="0" y="0"/>
                  </a:moveTo>
                  <a:lnTo>
                    <a:pt x="10707624" y="0"/>
                  </a:lnTo>
                  <a:lnTo>
                    <a:pt x="1070762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76017" y="3359201"/>
            <a:ext cx="8030766" cy="52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Environmental data generated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81074" y="2698404"/>
            <a:ext cx="278759" cy="443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81074" y="3229423"/>
            <a:ext cx="8030918" cy="38100"/>
            <a:chOff x="0" y="0"/>
            <a:chExt cx="10707891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07878" cy="50800"/>
            </a:xfrm>
            <a:custGeom>
              <a:avLst/>
              <a:gdLst/>
              <a:ahLst/>
              <a:cxnLst/>
              <a:rect r="r" b="b" t="t" l="l"/>
              <a:pathLst>
                <a:path h="50800" w="10707878">
                  <a:moveTo>
                    <a:pt x="0" y="0"/>
                  </a:moveTo>
                  <a:lnTo>
                    <a:pt x="10707878" y="0"/>
                  </a:lnTo>
                  <a:lnTo>
                    <a:pt x="1070787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281074" y="3359201"/>
            <a:ext cx="8030918" cy="52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ML models predict conditions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6017" y="4275534"/>
            <a:ext cx="278759" cy="443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76017" y="4806553"/>
            <a:ext cx="8030766" cy="38100"/>
            <a:chOff x="0" y="0"/>
            <a:chExt cx="10707688" cy="50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07624" cy="50800"/>
            </a:xfrm>
            <a:custGeom>
              <a:avLst/>
              <a:gdLst/>
              <a:ahLst/>
              <a:cxnLst/>
              <a:rect r="r" b="b" t="t" l="l"/>
              <a:pathLst>
                <a:path h="50800" w="10707624">
                  <a:moveTo>
                    <a:pt x="0" y="0"/>
                  </a:moveTo>
                  <a:lnTo>
                    <a:pt x="10707624" y="0"/>
                  </a:lnTo>
                  <a:lnTo>
                    <a:pt x="1070762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76017" y="4936331"/>
            <a:ext cx="8030766" cy="52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Decision engine evaluates thresholds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81074" y="4275534"/>
            <a:ext cx="278759" cy="443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281074" y="4806553"/>
            <a:ext cx="8030918" cy="38100"/>
            <a:chOff x="0" y="0"/>
            <a:chExt cx="10707891" cy="50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07878" cy="50800"/>
            </a:xfrm>
            <a:custGeom>
              <a:avLst/>
              <a:gdLst/>
              <a:ahLst/>
              <a:cxnLst/>
              <a:rect r="r" b="b" t="t" l="l"/>
              <a:pathLst>
                <a:path h="50800" w="10707878">
                  <a:moveTo>
                    <a:pt x="0" y="0"/>
                  </a:moveTo>
                  <a:lnTo>
                    <a:pt x="10707878" y="0"/>
                  </a:lnTo>
                  <a:lnTo>
                    <a:pt x="1070787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281074" y="4936331"/>
            <a:ext cx="8030918" cy="52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Commands sent to ESP32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6017" y="5852665"/>
            <a:ext cx="278759" cy="443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76017" y="6383684"/>
            <a:ext cx="8030766" cy="38100"/>
            <a:chOff x="0" y="0"/>
            <a:chExt cx="10707688" cy="50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07624" cy="50800"/>
            </a:xfrm>
            <a:custGeom>
              <a:avLst/>
              <a:gdLst/>
              <a:ahLst/>
              <a:cxnLst/>
              <a:rect r="r" b="b" t="t" l="l"/>
              <a:pathLst>
                <a:path h="50800" w="10707624">
                  <a:moveTo>
                    <a:pt x="0" y="0"/>
                  </a:moveTo>
                  <a:lnTo>
                    <a:pt x="10707624" y="0"/>
                  </a:lnTo>
                  <a:lnTo>
                    <a:pt x="1070762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76017" y="6513462"/>
            <a:ext cx="8030766" cy="52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Relays activate irrigation/lights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81074" y="5852665"/>
            <a:ext cx="278759" cy="443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06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81074" y="6383684"/>
            <a:ext cx="8030918" cy="38100"/>
            <a:chOff x="0" y="0"/>
            <a:chExt cx="10707891" cy="50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07878" cy="50800"/>
            </a:xfrm>
            <a:custGeom>
              <a:avLst/>
              <a:gdLst/>
              <a:ahLst/>
              <a:cxnLst/>
              <a:rect r="r" b="b" t="t" l="l"/>
              <a:pathLst>
                <a:path h="50800" w="10707878">
                  <a:moveTo>
                    <a:pt x="0" y="0"/>
                  </a:moveTo>
                  <a:lnTo>
                    <a:pt x="10707878" y="0"/>
                  </a:lnTo>
                  <a:lnTo>
                    <a:pt x="1070787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281074" y="6513462"/>
            <a:ext cx="8030918" cy="52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Dashboard updates every 2 seconds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6017" y="7633545"/>
            <a:ext cx="3485998" cy="464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LATENCY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6017" y="8423377"/>
            <a:ext cx="16335966" cy="1066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437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Prediction: &lt;50 ms</a:t>
            </a:r>
          </a:p>
          <a:p>
            <a:pPr algn="l" marL="329902" indent="-164951" lvl="1">
              <a:lnSpc>
                <a:spcPts val="3437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Command: &lt;100 ms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875387"/>
            <a:ext cx="7445578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PERFORMANCE 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093987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System evaluation: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866559"/>
            <a:ext cx="16303523" cy="220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Hardware success rate: </a:t>
            </a:r>
            <a:r>
              <a:rPr lang="en-US" b="true" sz="2187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99.5%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Water tracking error: </a:t>
            </a:r>
            <a:r>
              <a:rPr lang="en-US" b="true" sz="2187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±2%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Real-time prediction capability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Millisecond precision runtime tracking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6460779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IMPACT RESULTS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7271747"/>
            <a:ext cx="16303523" cy="110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Water savings: </a:t>
            </a:r>
            <a:r>
              <a:rPr lang="en-US" b="true" sz="2187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35%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Yield increase: </a:t>
            </a:r>
            <a:r>
              <a:rPr lang="en-US" b="true" sz="2187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18%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67095" y="1079897"/>
            <a:ext cx="10066734" cy="632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625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ADVANTAGES OVER EXISTING SYSTEMS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7095" y="2042074"/>
            <a:ext cx="16153657" cy="39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 b="true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Compared to current agricultural tech: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62333" y="2653751"/>
            <a:ext cx="16163182" cy="3585267"/>
            <a:chOff x="0" y="0"/>
            <a:chExt cx="21550909" cy="47803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50885" cy="4780407"/>
            </a:xfrm>
            <a:custGeom>
              <a:avLst/>
              <a:gdLst/>
              <a:ahLst/>
              <a:cxnLst/>
              <a:rect r="r" b="b" t="t" l="l"/>
              <a:pathLst>
                <a:path h="4780407" w="21550885">
                  <a:moveTo>
                    <a:pt x="0" y="53213"/>
                  </a:moveTo>
                  <a:cubicBezTo>
                    <a:pt x="0" y="23749"/>
                    <a:pt x="23876" y="0"/>
                    <a:pt x="53213" y="0"/>
                  </a:cubicBezTo>
                  <a:lnTo>
                    <a:pt x="21497671" y="0"/>
                  </a:lnTo>
                  <a:lnTo>
                    <a:pt x="21497671" y="6350"/>
                  </a:lnTo>
                  <a:lnTo>
                    <a:pt x="21497671" y="0"/>
                  </a:lnTo>
                  <a:cubicBezTo>
                    <a:pt x="21527136" y="0"/>
                    <a:pt x="21550885" y="23749"/>
                    <a:pt x="21550885" y="53213"/>
                  </a:cubicBezTo>
                  <a:lnTo>
                    <a:pt x="21544535" y="53213"/>
                  </a:lnTo>
                  <a:lnTo>
                    <a:pt x="21550885" y="53213"/>
                  </a:lnTo>
                  <a:lnTo>
                    <a:pt x="21550885" y="4727194"/>
                  </a:lnTo>
                  <a:lnTo>
                    <a:pt x="21544535" y="4727194"/>
                  </a:lnTo>
                  <a:lnTo>
                    <a:pt x="21550885" y="4727194"/>
                  </a:lnTo>
                  <a:cubicBezTo>
                    <a:pt x="21550885" y="4756531"/>
                    <a:pt x="21527008" y="4780407"/>
                    <a:pt x="21497671" y="4780407"/>
                  </a:cubicBezTo>
                  <a:lnTo>
                    <a:pt x="21497671" y="4774057"/>
                  </a:lnTo>
                  <a:lnTo>
                    <a:pt x="21497671" y="4780407"/>
                  </a:lnTo>
                  <a:lnTo>
                    <a:pt x="53213" y="4780407"/>
                  </a:lnTo>
                  <a:lnTo>
                    <a:pt x="53213" y="4774057"/>
                  </a:lnTo>
                  <a:lnTo>
                    <a:pt x="53213" y="4780407"/>
                  </a:lnTo>
                  <a:cubicBezTo>
                    <a:pt x="23749" y="4780407"/>
                    <a:pt x="0" y="4756658"/>
                    <a:pt x="0" y="4727194"/>
                  </a:cubicBezTo>
                  <a:lnTo>
                    <a:pt x="0" y="53213"/>
                  </a:lnTo>
                  <a:lnTo>
                    <a:pt x="6350" y="53213"/>
                  </a:lnTo>
                  <a:lnTo>
                    <a:pt x="0" y="53213"/>
                  </a:lnTo>
                  <a:moveTo>
                    <a:pt x="12700" y="53213"/>
                  </a:moveTo>
                  <a:lnTo>
                    <a:pt x="12700" y="4727194"/>
                  </a:lnTo>
                  <a:lnTo>
                    <a:pt x="6350" y="4727194"/>
                  </a:lnTo>
                  <a:lnTo>
                    <a:pt x="12700" y="4727194"/>
                  </a:lnTo>
                  <a:cubicBezTo>
                    <a:pt x="12700" y="4749546"/>
                    <a:pt x="30861" y="4767707"/>
                    <a:pt x="53213" y="4767707"/>
                  </a:cubicBezTo>
                  <a:lnTo>
                    <a:pt x="21497671" y="4767707"/>
                  </a:lnTo>
                  <a:cubicBezTo>
                    <a:pt x="21520150" y="4767707"/>
                    <a:pt x="21538185" y="4749546"/>
                    <a:pt x="21538185" y="4727194"/>
                  </a:cubicBezTo>
                  <a:lnTo>
                    <a:pt x="21538185" y="53213"/>
                  </a:lnTo>
                  <a:cubicBezTo>
                    <a:pt x="21538185" y="30861"/>
                    <a:pt x="21520023" y="12700"/>
                    <a:pt x="21497671" y="12700"/>
                  </a:cubicBezTo>
                  <a:lnTo>
                    <a:pt x="53213" y="12700"/>
                  </a:lnTo>
                  <a:lnTo>
                    <a:pt x="53213" y="6350"/>
                  </a:lnTo>
                  <a:lnTo>
                    <a:pt x="53213" y="12700"/>
                  </a:lnTo>
                  <a:cubicBezTo>
                    <a:pt x="30861" y="12700"/>
                    <a:pt x="12700" y="30861"/>
                    <a:pt x="12700" y="53213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76620" y="2668038"/>
            <a:ext cx="16132969" cy="592779"/>
            <a:chOff x="0" y="0"/>
            <a:chExt cx="21510625" cy="7903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10625" cy="790321"/>
            </a:xfrm>
            <a:custGeom>
              <a:avLst/>
              <a:gdLst/>
              <a:ahLst/>
              <a:cxnLst/>
              <a:rect r="r" b="b" t="t" l="l"/>
              <a:pathLst>
                <a:path h="790321" w="21510625">
                  <a:moveTo>
                    <a:pt x="0" y="0"/>
                  </a:moveTo>
                  <a:lnTo>
                    <a:pt x="21510625" y="0"/>
                  </a:lnTo>
                  <a:lnTo>
                    <a:pt x="21510625" y="790321"/>
                  </a:lnTo>
                  <a:lnTo>
                    <a:pt x="0" y="79032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12659" y="2736352"/>
            <a:ext cx="4904032" cy="39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Feature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94437" y="2736352"/>
            <a:ext cx="4899269" cy="39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Traditional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71452" y="2736352"/>
            <a:ext cx="4904032" cy="39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Proposed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76620" y="3260827"/>
            <a:ext cx="16132969" cy="592779"/>
            <a:chOff x="0" y="0"/>
            <a:chExt cx="21510625" cy="7903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510625" cy="790321"/>
            </a:xfrm>
            <a:custGeom>
              <a:avLst/>
              <a:gdLst/>
              <a:ahLst/>
              <a:cxnLst/>
              <a:rect r="r" b="b" t="t" l="l"/>
              <a:pathLst>
                <a:path h="790321" w="21510625">
                  <a:moveTo>
                    <a:pt x="0" y="0"/>
                  </a:moveTo>
                  <a:lnTo>
                    <a:pt x="21510625" y="0"/>
                  </a:lnTo>
                  <a:lnTo>
                    <a:pt x="21510625" y="790321"/>
                  </a:lnTo>
                  <a:lnTo>
                    <a:pt x="0" y="7903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12659" y="3329140"/>
            <a:ext cx="4904032" cy="39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Automation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94437" y="3329140"/>
            <a:ext cx="4899269" cy="39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Manual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71452" y="3329140"/>
            <a:ext cx="4904032" cy="39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Fully automated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76620" y="3853605"/>
            <a:ext cx="16132969" cy="592779"/>
            <a:chOff x="0" y="0"/>
            <a:chExt cx="21510625" cy="7903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510625" cy="790321"/>
            </a:xfrm>
            <a:custGeom>
              <a:avLst/>
              <a:gdLst/>
              <a:ahLst/>
              <a:cxnLst/>
              <a:rect r="r" b="b" t="t" l="l"/>
              <a:pathLst>
                <a:path h="790321" w="21510625">
                  <a:moveTo>
                    <a:pt x="0" y="0"/>
                  </a:moveTo>
                  <a:lnTo>
                    <a:pt x="21510625" y="0"/>
                  </a:lnTo>
                  <a:lnTo>
                    <a:pt x="21510625" y="790321"/>
                  </a:lnTo>
                  <a:lnTo>
                    <a:pt x="0" y="79032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12659" y="3921919"/>
            <a:ext cx="4904032" cy="39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Decision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94437" y="3921919"/>
            <a:ext cx="4899269" cy="39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Human guess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71452" y="3921919"/>
            <a:ext cx="4904032" cy="39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ML prediction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76620" y="4446384"/>
            <a:ext cx="16132969" cy="592779"/>
            <a:chOff x="0" y="0"/>
            <a:chExt cx="21510625" cy="7903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510625" cy="790321"/>
            </a:xfrm>
            <a:custGeom>
              <a:avLst/>
              <a:gdLst/>
              <a:ahLst/>
              <a:cxnLst/>
              <a:rect r="r" b="b" t="t" l="l"/>
              <a:pathLst>
                <a:path h="790321" w="21510625">
                  <a:moveTo>
                    <a:pt x="0" y="0"/>
                  </a:moveTo>
                  <a:lnTo>
                    <a:pt x="21510625" y="0"/>
                  </a:lnTo>
                  <a:lnTo>
                    <a:pt x="21510625" y="790321"/>
                  </a:lnTo>
                  <a:lnTo>
                    <a:pt x="0" y="7903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12659" y="4514698"/>
            <a:ext cx="4904032" cy="39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Cost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94437" y="4514698"/>
            <a:ext cx="4899269" cy="39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High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071452" y="4514698"/>
            <a:ext cx="4904032" cy="39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Low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76620" y="5039173"/>
            <a:ext cx="16132969" cy="592779"/>
            <a:chOff x="0" y="0"/>
            <a:chExt cx="21510625" cy="7903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510625" cy="790321"/>
            </a:xfrm>
            <a:custGeom>
              <a:avLst/>
              <a:gdLst/>
              <a:ahLst/>
              <a:cxnLst/>
              <a:rect r="r" b="b" t="t" l="l"/>
              <a:pathLst>
                <a:path h="790321" w="21510625">
                  <a:moveTo>
                    <a:pt x="0" y="0"/>
                  </a:moveTo>
                  <a:lnTo>
                    <a:pt x="21510625" y="0"/>
                  </a:lnTo>
                  <a:lnTo>
                    <a:pt x="21510625" y="790321"/>
                  </a:lnTo>
                  <a:lnTo>
                    <a:pt x="0" y="79032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312659" y="5107486"/>
            <a:ext cx="4904032" cy="39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Control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94437" y="5107486"/>
            <a:ext cx="4899269" cy="39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Separate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071452" y="5107486"/>
            <a:ext cx="4904032" cy="39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Integrated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76620" y="5631952"/>
            <a:ext cx="16132969" cy="592779"/>
            <a:chOff x="0" y="0"/>
            <a:chExt cx="21510625" cy="7903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510625" cy="790321"/>
            </a:xfrm>
            <a:custGeom>
              <a:avLst/>
              <a:gdLst/>
              <a:ahLst/>
              <a:cxnLst/>
              <a:rect r="r" b="b" t="t" l="l"/>
              <a:pathLst>
                <a:path h="790321" w="21510625">
                  <a:moveTo>
                    <a:pt x="0" y="0"/>
                  </a:moveTo>
                  <a:lnTo>
                    <a:pt x="21510625" y="0"/>
                  </a:lnTo>
                  <a:lnTo>
                    <a:pt x="21510625" y="790321"/>
                  </a:lnTo>
                  <a:lnTo>
                    <a:pt x="0" y="7903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312659" y="5700265"/>
            <a:ext cx="4904032" cy="39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Scalability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694437" y="5700265"/>
            <a:ext cx="4899269" cy="39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Limited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071452" y="5700265"/>
            <a:ext cx="4904032" cy="39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High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67095" y="6495602"/>
            <a:ext cx="2926261" cy="394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249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KEY STRENGTHS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67095" y="7122614"/>
            <a:ext cx="16153657" cy="2036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687"/>
              </a:lnSpc>
              <a:buFont typeface="Arial"/>
              <a:buChar char="•"/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Predictive + Automated</a:t>
            </a:r>
          </a:p>
          <a:p>
            <a:pPr algn="l" marL="273348" indent="-136674" lvl="1">
              <a:lnSpc>
                <a:spcPts val="2687"/>
              </a:lnSpc>
              <a:buFont typeface="Arial"/>
              <a:buChar char="•"/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Low cost</a:t>
            </a:r>
          </a:p>
          <a:p>
            <a:pPr algn="l" marL="273348" indent="-136674" lvl="1">
              <a:lnSpc>
                <a:spcPts val="2687"/>
              </a:lnSpc>
              <a:buFont typeface="Arial"/>
              <a:buChar char="•"/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Mobile access</a:t>
            </a:r>
          </a:p>
          <a:p>
            <a:pPr algn="l" marL="273348" indent="-136674" lvl="1">
              <a:lnSpc>
                <a:spcPts val="2687"/>
              </a:lnSpc>
              <a:buFont typeface="Arial"/>
              <a:buChar char="•"/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Modular design</a:t>
            </a:r>
          </a:p>
          <a:p>
            <a:pPr algn="l" marL="273348" indent="-136674" lvl="1">
              <a:lnSpc>
                <a:spcPts val="2687"/>
              </a:lnSpc>
              <a:buFont typeface="Arial"/>
              <a:buChar char="•"/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Safe fail-safe hardware logic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110978"/>
            <a:ext cx="9401327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CONCLUSION &amp; FUTURE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933109"/>
            <a:ext cx="4252912" cy="56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832774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Smart Farm provides: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605338"/>
            <a:ext cx="16303523" cy="2759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Intelligent prediction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Automated control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Real-time monitoring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Resource optimization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Affordable precision agriculture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7588891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bridges the gap between monitoring systems and automation platforms.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DAHBX7-2Zww</dc:identifier>
  <dcterms:modified xsi:type="dcterms:W3CDTF">2011-08-01T06:04:30Z</dcterms:modified>
  <cp:revision>1</cp:revision>
  <dc:title>Smart-Farm-AI-Driven-Crop-Stress-Prediction-and-Automated-Irrigation-System.pptx</dc:title>
</cp:coreProperties>
</file>